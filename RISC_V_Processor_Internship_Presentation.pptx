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75" r:id="rId9"/>
    <p:sldId id="262" r:id="rId10"/>
    <p:sldId id="263" r:id="rId11"/>
    <p:sldId id="264" r:id="rId12"/>
    <p:sldId id="265" r:id="rId13"/>
    <p:sldId id="274" r:id="rId14"/>
    <p:sldId id="266" r:id="rId15"/>
    <p:sldId id="267" r:id="rId16"/>
    <p:sldId id="268" r:id="rId17"/>
    <p:sldId id="269" r:id="rId18"/>
    <p:sldId id="270" r:id="rId19"/>
    <p:sldId id="276" r:id="rId20"/>
    <p:sldId id="271" r:id="rId21"/>
    <p:sldId id="27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574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8113-D679-6E13-0CC9-6584193F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FEE55-D17A-11AF-3468-BF90D0725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A38B0-29A0-22B1-6E81-8AE76A810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14FFD-A800-410C-8982-51FFED1A7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2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info@technglobal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23444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69880" y="123444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81411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Verification of an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8-bit RISC-V Inspired Processor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63040" y="3333301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Architecture  •  2-Stage Pipeline with Data Forwarding  •  Verilog HDL in Xilinx Vivado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0" y="4572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Guide: [Mentor Name]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[Start] – [End], 2026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Shape 6">
            <a:hlinkClick r:id="rId3" action="ppaction://hlinksldjump"/>
            <a:extLst>
              <a:ext uri="{FF2B5EF4-FFF2-40B4-BE49-F238E27FC236}">
                <a16:creationId xmlns:a16="http://schemas.microsoft.com/office/drawing/2014/main" id="{02F79079-1449-D9CE-65FB-D2092047261C}"/>
              </a:ext>
            </a:extLst>
          </p:cNvPr>
          <p:cNvSpPr/>
          <p:nvPr/>
        </p:nvSpPr>
        <p:spPr>
          <a:xfrm>
            <a:off x="1900002" y="4045561"/>
            <a:ext cx="7775687" cy="2296145"/>
          </a:xfrm>
          <a:prstGeom prst="roundRect">
            <a:avLst>
              <a:gd name="adj" fmla="val 4211"/>
            </a:avLst>
          </a:prstGeom>
          <a:solidFill>
            <a:srgbClr val="12274A"/>
          </a:solidFill>
          <a:ln w="12700">
            <a:solidFill>
              <a:srgbClr val="23436E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Submitted by : 	Vaibhav </a:t>
            </a:r>
            <a:r>
              <a:rPr lang="en-US" dirty="0" err="1">
                <a:solidFill>
                  <a:schemeClr val="bg1"/>
                </a:solidFill>
              </a:rPr>
              <a:t>Shromani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Branch:		Electronics &amp; Communication Engineering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Institute:		Maulana Azad National Institute Of Technology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Internship:	VLSI Design- </a:t>
            </a:r>
            <a:r>
              <a:rPr lang="en-US" dirty="0" err="1">
                <a:solidFill>
                  <a:schemeClr val="bg1"/>
                </a:solidFill>
              </a:rPr>
              <a:t>Technnglobal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Industial</a:t>
            </a:r>
            <a:r>
              <a:rPr lang="en-US" dirty="0">
                <a:solidFill>
                  <a:schemeClr val="bg1"/>
                </a:solidFill>
              </a:rPr>
              <a:t> Training Program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 Repository:  </a:t>
            </a:r>
            <a:r>
              <a:rPr lang="en-US" dirty="0">
                <a:solidFill>
                  <a:schemeClr val="bg1"/>
                </a:solidFill>
                <a:hlinkClick r:id="rId3" action="ppaction://hlinksldjump"/>
              </a:rPr>
              <a:t>https://github.com/vaibhavshromani/8_bit_RISC_V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FE735BBA-8EF5-485B-E114-751DDF911EAE}"/>
              </a:ext>
            </a:extLst>
          </p:cNvPr>
          <p:cNvSpPr/>
          <p:nvPr/>
        </p:nvSpPr>
        <p:spPr>
          <a:xfrm>
            <a:off x="4065470" y="182880"/>
            <a:ext cx="3390502" cy="10058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1C3F14-A0EA-1FD5-DA76-81921B969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502" y="182880"/>
            <a:ext cx="3390503" cy="113879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EB9D213-34BB-5D6E-5BF2-980EC05E8ECB}"/>
              </a:ext>
            </a:extLst>
          </p:cNvPr>
          <p:cNvGrpSpPr/>
          <p:nvPr/>
        </p:nvGrpSpPr>
        <p:grpSpPr>
          <a:xfrm>
            <a:off x="1885254" y="1318368"/>
            <a:ext cx="6678618" cy="563664"/>
            <a:chOff x="805502" y="0"/>
            <a:chExt cx="6678618" cy="563664"/>
          </a:xfrm>
        </p:grpSpPr>
        <p:sp>
          <p:nvSpPr>
            <p:cNvPr id="22" name="Arrow: Pentagon 21">
              <a:extLst>
                <a:ext uri="{FF2B5EF4-FFF2-40B4-BE49-F238E27FC236}">
                  <a16:creationId xmlns:a16="http://schemas.microsoft.com/office/drawing/2014/main" id="{450B6C82-880F-4D4D-B639-61E91F83133C}"/>
                </a:ext>
              </a:extLst>
            </p:cNvPr>
            <p:cNvSpPr/>
            <p:nvPr/>
          </p:nvSpPr>
          <p:spPr>
            <a:xfrm rot="10800000">
              <a:off x="805502" y="0"/>
              <a:ext cx="6678618" cy="563664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rrow: Pentagon 4">
              <a:extLst>
                <a:ext uri="{FF2B5EF4-FFF2-40B4-BE49-F238E27FC236}">
                  <a16:creationId xmlns:a16="http://schemas.microsoft.com/office/drawing/2014/main" id="{68FDA975-6838-B508-49F0-6AF9DBF9004D}"/>
                </a:ext>
              </a:extLst>
            </p:cNvPr>
            <p:cNvSpPr txBox="1"/>
            <p:nvPr/>
          </p:nvSpPr>
          <p:spPr>
            <a:xfrm rot="21600000">
              <a:off x="946418" y="0"/>
              <a:ext cx="6537702" cy="563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560" tIns="99060" rIns="184912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DESIGN  •  VLSI  •  VERILOG HDL</a:t>
              </a:r>
              <a:endParaRPr lang="en-IN" sz="2600" kern="12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9"/>
            <a:ext cx="5440680" cy="772668"/>
          </a:xfrm>
          <a:prstGeom prst="roundRect">
            <a:avLst>
              <a:gd name="adj" fmla="val 4688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49379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34440" y="1700047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17320" y="1920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" y="2528408"/>
            <a:ext cx="5440680" cy="822960"/>
          </a:xfrm>
          <a:prstGeom prst="roundRect">
            <a:avLst>
              <a:gd name="adj" fmla="val 4688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555" y="257801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34440" y="27758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Set Architecture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3637506"/>
            <a:ext cx="5440680" cy="833912"/>
          </a:xfrm>
          <a:prstGeom prst="roundRect">
            <a:avLst>
              <a:gd name="adj" fmla="val 4688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8544" y="36995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38907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Architecture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80060" y="4804952"/>
            <a:ext cx="5440680" cy="754600"/>
          </a:xfrm>
          <a:prstGeom prst="roundRect">
            <a:avLst>
              <a:gd name="adj" fmla="val 4688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670019" y="48371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234440" y="50930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Verilog Design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096000" y="1453896"/>
            <a:ext cx="5440680" cy="800101"/>
          </a:xfrm>
          <a:prstGeom prst="roundRect">
            <a:avLst>
              <a:gd name="adj" fmla="val 4688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37382" y="1478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071055" y="1707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Verification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108192" y="2545221"/>
            <a:ext cx="5440680" cy="822960"/>
          </a:xfrm>
          <a:prstGeom prst="roundRect">
            <a:avLst>
              <a:gd name="adj" fmla="val 4688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6309360" y="262727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086600" y="2807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&amp; Hazards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126480" y="3648456"/>
            <a:ext cx="5440680" cy="822961"/>
          </a:xfrm>
          <a:prstGeom prst="roundRect">
            <a:avLst>
              <a:gd name="adj" fmla="val 4688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3685623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086600" y="385194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in Vivado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108192" y="4804952"/>
            <a:ext cx="5440680" cy="752830"/>
          </a:xfrm>
          <a:prstGeom prst="roundRect">
            <a:avLst>
              <a:gd name="adj" fmla="val 4688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09360" y="47365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086600" y="4998487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Conclusion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B1CA1B5A-2641-FBAB-C904-97F40295ED06}"/>
              </a:ext>
            </a:extLst>
          </p:cNvPr>
          <p:cNvSpPr/>
          <p:nvPr/>
        </p:nvSpPr>
        <p:spPr>
          <a:xfrm>
            <a:off x="8605799" y="139631"/>
            <a:ext cx="3390502" cy="10058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7F3E218-AFB8-0AF9-C138-1019EDD88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639" y="111464"/>
            <a:ext cx="3390503" cy="1138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" y="1366905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What is a RISC Processor? </a:t>
            </a:r>
          </a:p>
          <a:p>
            <a:r>
              <a:rPr lang="en-IN" dirty="0"/>
              <a:t>A </a:t>
            </a:r>
            <a:r>
              <a:rPr lang="en-IN" sz="2000" dirty="0"/>
              <a:t>Reduced</a:t>
            </a:r>
            <a:r>
              <a:rPr lang="en-IN" dirty="0"/>
              <a:t> Instruction Set Computer (RISC) processor executes simple, fixed-length instructions in a single clock cycle using a load-store architecture. This project implements a 8-bit 2-stage pipelined RISC processor in Verilog HDL — integrating </a:t>
            </a:r>
            <a:r>
              <a:rPr lang="en-IN" dirty="0" err="1"/>
              <a:t>datapath</a:t>
            </a:r>
            <a:r>
              <a:rPr lang="en-IN" dirty="0"/>
              <a:t>, control logic, pipelined register, register file, ALU, instruction memory, and data memory into a fully simulated and synthesized digital system.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97D4FE-D603-C425-C7E5-F1370D732ECB}"/>
              </a:ext>
            </a:extLst>
          </p:cNvPr>
          <p:cNvSpPr txBox="1"/>
          <p:nvPr/>
        </p:nvSpPr>
        <p:spPr>
          <a:xfrm>
            <a:off x="579120" y="3300819"/>
            <a:ext cx="11094720" cy="2542363"/>
          </a:xfrm>
          <a:prstGeom prst="rect">
            <a:avLst/>
          </a:prstGeom>
          <a:solidFill>
            <a:schemeClr val="tx1">
              <a:alpha val="82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     Design a 8-bit 2-stage pipelined RISC processor (Fetch + Execute/Writeback) in Verilog HDL.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     Implement 6 instructions: ADD, SUB, AND, OR, LOAD, STORE with a 4-bit opcode ISA.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     Build modular sub-components: PC, Instruction Memory, Control Unit, Register File, ALU, Data Memory Verify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      correctness via comprehensive testbench with pass/fail assertions on register and RAM state.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      Synthesize and implement on FPGA using Xilinx </a:t>
            </a:r>
            <a:r>
              <a:rPr lang="en-IN" dirty="0" err="1">
                <a:solidFill>
                  <a:schemeClr val="bg1"/>
                </a:solidFill>
              </a:rPr>
              <a:t>Vivado</a:t>
            </a:r>
            <a:r>
              <a:rPr lang="en-IN" dirty="0">
                <a:solidFill>
                  <a:schemeClr val="bg1"/>
                </a:solidFill>
              </a:rPr>
              <a:t>; generate RTL schematic and power/timing reports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     Document all design decisions, ISA, </a:t>
            </a:r>
            <a:r>
              <a:rPr lang="en-IN" dirty="0" err="1">
                <a:solidFill>
                  <a:schemeClr val="bg1"/>
                </a:solidFill>
              </a:rPr>
              <a:t>datapath</a:t>
            </a:r>
            <a:r>
              <a:rPr lang="en-IN" dirty="0">
                <a:solidFill>
                  <a:schemeClr val="bg1"/>
                </a:solidFill>
              </a:rPr>
              <a:t>, and results as required by mentor   checklist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518050-1BC2-D678-196E-8289C9FD2DF9}"/>
              </a:ext>
            </a:extLst>
          </p:cNvPr>
          <p:cNvSpPr txBox="1"/>
          <p:nvPr/>
        </p:nvSpPr>
        <p:spPr>
          <a:xfrm>
            <a:off x="502920" y="2883077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0B6173-A11E-101A-887D-A53225EBD290}"/>
              </a:ext>
            </a:extLst>
          </p:cNvPr>
          <p:cNvSpPr/>
          <p:nvPr/>
        </p:nvSpPr>
        <p:spPr>
          <a:xfrm>
            <a:off x="623685" y="3429000"/>
            <a:ext cx="237596" cy="2743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9FCB9DA-BE52-3325-C3BF-7E5DF282B9BD}"/>
              </a:ext>
            </a:extLst>
          </p:cNvPr>
          <p:cNvSpPr/>
          <p:nvPr/>
        </p:nvSpPr>
        <p:spPr>
          <a:xfrm>
            <a:off x="612722" y="3867829"/>
            <a:ext cx="237596" cy="2743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AB80D61-CC2E-2AA8-7630-61B2011339FF}"/>
              </a:ext>
            </a:extLst>
          </p:cNvPr>
          <p:cNvSpPr/>
          <p:nvPr/>
        </p:nvSpPr>
        <p:spPr>
          <a:xfrm>
            <a:off x="612722" y="4306658"/>
            <a:ext cx="237596" cy="2743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D5E135E-16EA-F233-9E4C-F35A2B364509}"/>
              </a:ext>
            </a:extLst>
          </p:cNvPr>
          <p:cNvSpPr/>
          <p:nvPr/>
        </p:nvSpPr>
        <p:spPr>
          <a:xfrm>
            <a:off x="612722" y="5438946"/>
            <a:ext cx="237596" cy="2743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446B243-403C-41C5-497D-643C78AB76F5}"/>
              </a:ext>
            </a:extLst>
          </p:cNvPr>
          <p:cNvSpPr/>
          <p:nvPr/>
        </p:nvSpPr>
        <p:spPr>
          <a:xfrm>
            <a:off x="635656" y="4998720"/>
            <a:ext cx="237596" cy="2743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EE87F0-D439-B944-424F-4631A72C8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649310"/>
              </p:ext>
            </p:extLst>
          </p:nvPr>
        </p:nvGraphicFramePr>
        <p:xfrm>
          <a:off x="880364" y="1234620"/>
          <a:ext cx="9811840" cy="4388760"/>
        </p:xfrm>
        <a:graphic>
          <a:graphicData uri="http://schemas.openxmlformats.org/drawingml/2006/table">
            <a:tbl>
              <a:tblPr/>
              <a:tblGrid>
                <a:gridCol w="4905920">
                  <a:extLst>
                    <a:ext uri="{9D8B030D-6E8A-4147-A177-3AD203B41FA5}">
                      <a16:colId xmlns:a16="http://schemas.microsoft.com/office/drawing/2014/main" val="1769357191"/>
                    </a:ext>
                  </a:extLst>
                </a:gridCol>
                <a:gridCol w="4905920">
                  <a:extLst>
                    <a:ext uri="{9D8B030D-6E8A-4147-A177-3AD203B41FA5}">
                      <a16:colId xmlns:a16="http://schemas.microsoft.com/office/drawing/2014/main" val="57674104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effectLst/>
                        </a:rPr>
                        <a:t>Parameter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effectLst/>
                        </a:rPr>
                        <a:t>Value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17690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Architecture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Custom RISC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76828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Data Width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8-bit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2477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Instruction Width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16-bit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51522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Registers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8 Registers (R0-R7)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99842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Register Width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8-bit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41148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Instruction Memory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16 × 16-bit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98141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Data Memory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32 × 8-bit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63032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Pipeline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2-Stage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27318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Clocking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Single Clock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81766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HDL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Verilog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9551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effectLst/>
                        </a:rPr>
                        <a:t>Tool Used</a:t>
                      </a: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effectLst/>
                        </a:rPr>
                        <a:t>Xilinx </a:t>
                      </a:r>
                      <a:r>
                        <a:rPr lang="en-IN" sz="1700" dirty="0" err="1">
                          <a:effectLst/>
                        </a:rPr>
                        <a:t>Vivado</a:t>
                      </a:r>
                      <a:endParaRPr lang="en-IN" sz="1700" dirty="0">
                        <a:effectLst/>
                      </a:endParaRPr>
                    </a:p>
                  </a:txBody>
                  <a:tcPr marL="115538" marR="115538" marT="53325" marB="53325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9110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C383EAD-7BFF-DBC8-56F8-86A7C204594A}"/>
              </a:ext>
            </a:extLst>
          </p:cNvPr>
          <p:cNvSpPr txBox="1"/>
          <p:nvPr/>
        </p:nvSpPr>
        <p:spPr>
          <a:xfrm>
            <a:off x="334673" y="339160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3600" b="1" i="0" dirty="0">
                <a:solidFill>
                  <a:srgbClr val="00B050"/>
                </a:solidFill>
                <a:effectLst/>
                <a:latin typeface="Mona Sans VF"/>
              </a:rPr>
              <a:t>Processor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346148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SET ARCHITECTURE (ISA)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8-bit Datapath, 16-bit Instruction Word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12984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ISA — 6 instructions across 2 formats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6035040" cy="27523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Opcode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Mnemonic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Format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R-type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 = rs1 + rs2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R-type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 = rs1 − rs2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R-type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 = rs1 &amp; rs2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R-type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 = rs1 | rs2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I-type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 = Mem[base + imm]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I-type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6E4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Mem[base + imm] = rd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097280" y="4572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is hardwired to zero (standard RISC convention).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52360" y="169164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  (16 bits)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809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opcode[3] | rd[3] | rs1[3] | rs2[3] | unused[4]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809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ADD R3, R1, R2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329184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68096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I-TYPE  (16 bits)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8096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opcode[3] | reg[3] | base[3] | imm[7]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809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LOAD R1, 0x10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52360" y="489204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13234A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680960" y="48920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8-bit registers  •  32 × 8-bit data RAM  •  16 × 16-bit instruction ROM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Single-Cycle Datapath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11480" y="3246120"/>
            <a:ext cx="1234440" cy="960120"/>
          </a:xfrm>
          <a:prstGeom prst="roundRect">
            <a:avLst>
              <a:gd name="adj" fmla="val 5714"/>
            </a:avLst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337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867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4-bit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74520" y="324612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74520" y="33375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74520" y="3867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16×16-bit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11880" y="324612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11880" y="3337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3867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8×8-bit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32120" y="3246120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33375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32120" y="3867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ADD/SUB/AND/OR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78040" y="324612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80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78040" y="3867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32×8-bit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324612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06840" y="3337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06840" y="3867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Reg File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45920" y="3726180"/>
            <a:ext cx="2286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91840" y="372618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212080" y="372618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372618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86800" y="372618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611880" y="1783080"/>
            <a:ext cx="3246120" cy="822960"/>
          </a:xfrm>
          <a:prstGeom prst="roundRect">
            <a:avLst>
              <a:gd name="adj" fmla="val 6667"/>
            </a:avLst>
          </a:prstGeom>
          <a:solidFill>
            <a:srgbClr val="13234A"/>
          </a:solidFill>
          <a:ln w="12700">
            <a:solidFill>
              <a:srgbClr val="7DD3FC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11880" y="1874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49040" y="2221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opcode → reg_write, mem_write, mem_read, alu_src, mem_to_reg, alu_op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0" y="2606040"/>
            <a:ext cx="0" cy="640080"/>
          </a:xfrm>
          <a:prstGeom prst="line">
            <a:avLst/>
          </a:prstGeom>
          <a:noFill/>
          <a:ln w="19050">
            <a:solidFill>
              <a:srgbClr val="7DD3FC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389120" y="2606040"/>
            <a:ext cx="0" cy="640080"/>
          </a:xfrm>
          <a:prstGeom prst="line">
            <a:avLst/>
          </a:prstGeom>
          <a:noFill/>
          <a:ln w="15875">
            <a:solidFill>
              <a:srgbClr val="7DD3FC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126480" y="2606040"/>
            <a:ext cx="0" cy="640080"/>
          </a:xfrm>
          <a:prstGeom prst="line">
            <a:avLst/>
          </a:prstGeom>
          <a:noFill/>
          <a:ln w="15875">
            <a:solidFill>
              <a:srgbClr val="7DD3FC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863840" y="2606040"/>
            <a:ext cx="0" cy="640080"/>
          </a:xfrm>
          <a:prstGeom prst="line">
            <a:avLst/>
          </a:prstGeom>
          <a:noFill/>
          <a:ln w="15875">
            <a:solidFill>
              <a:srgbClr val="7DD3FC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411980" y="4206240"/>
            <a:ext cx="0" cy="411480"/>
          </a:xfrm>
          <a:prstGeom prst="line">
            <a:avLst/>
          </a:prstGeom>
          <a:noFill/>
          <a:ln w="19050">
            <a:solidFill>
              <a:srgbClr val="FBBF77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4411980" y="4617720"/>
            <a:ext cx="5394960" cy="0"/>
          </a:xfrm>
          <a:prstGeom prst="line">
            <a:avLst/>
          </a:prstGeom>
          <a:noFill/>
          <a:ln w="19050">
            <a:solidFill>
              <a:srgbClr val="FBBF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06940" y="4206240"/>
            <a:ext cx="0" cy="411480"/>
          </a:xfrm>
          <a:prstGeom prst="line">
            <a:avLst/>
          </a:prstGeom>
          <a:noFill/>
          <a:ln w="19050">
            <a:solidFill>
              <a:srgbClr val="FBBF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1980" y="46725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B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write_back_data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(PC→IMEM) → Decode (opcode→Control Unit, operands→Register File) → Execute (ALU) → Memory Access (LOAD/STORE) → Write-Back — all completing within one clock cycle.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STRUCTURE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Module-Level Breakdown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3657600" cy="2240280"/>
          </a:xfrm>
          <a:prstGeom prst="roundRect">
            <a:avLst>
              <a:gd name="adj" fmla="val 244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5696" y="15681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pc.v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5716" y="176449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364" y="2098548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counter; increments each clock, resets to 0, saturates at 15.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37502" y="1417320"/>
            <a:ext cx="3657600" cy="2240280"/>
          </a:xfrm>
          <a:prstGeom prst="roundRect">
            <a:avLst>
              <a:gd name="adj" fmla="val 244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958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instruction_memory.</a:t>
            </a: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95800" y="181700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ROM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95800" y="2182761"/>
            <a:ext cx="3200400" cy="60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16-bit words, preloaded with the sample program, word-addressed by PC.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47304" y="1417320"/>
            <a:ext cx="3657600" cy="2240280"/>
          </a:xfrm>
          <a:prstGeom prst="roundRect">
            <a:avLst>
              <a:gd name="adj" fmla="val 2449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93500">
                <a:srgbClr val="C0D0EB"/>
              </a:gs>
              <a:gs pos="87000">
                <a:srgbClr val="B9CBE9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75904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control_unit.</a:t>
            </a:r>
            <a:r>
              <a:rPr lang="en-US" sz="1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3702" y="181700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Control Unit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3702" y="2128192"/>
            <a:ext cx="3200400" cy="52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decoder: opcode → 5 control signals + 2-bit alu_op.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9912" y="3798153"/>
            <a:ext cx="3657600" cy="2240280"/>
          </a:xfrm>
          <a:prstGeom prst="roundRect">
            <a:avLst>
              <a:gd name="adj" fmla="val 244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register_file.v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22629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08512" y="4527903"/>
            <a:ext cx="3200400" cy="589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8-bit regs, 2 combinational read ports, 1 synchronous write port. R0 = 0.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25112" y="3840480"/>
            <a:ext cx="3657600" cy="2240280"/>
          </a:xfrm>
          <a:prstGeom prst="roundRect">
            <a:avLst>
              <a:gd name="adj" fmla="val 244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53712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alu.v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53712" y="428529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5800" y="4573325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9-bit internal adder catches carry-out; supports ADD / SUB / AND / OR.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47304" y="3840480"/>
            <a:ext cx="3657600" cy="2240280"/>
          </a:xfrm>
          <a:prstGeom prst="roundRect">
            <a:avLst>
              <a:gd name="adj" fmla="val 244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75904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data_memory.v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75904" y="420756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Memory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375904" y="45173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8-bit RAM, combinational read + synchronous write, preloaded test data.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4B86F52-A091-EEB8-9701-8CCDB5B41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502" y="2811042"/>
            <a:ext cx="3657600" cy="84655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A2B39A1-7A77-41A2-9C8F-80EA45848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30068"/>
            <a:ext cx="3657600" cy="8363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BE17C0F-FC41-A0D0-F2B7-C393B878A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904" y="2656184"/>
            <a:ext cx="3634000" cy="100141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AA0C6F0-696F-C8D1-AED7-B26CE5C57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912" y="5070348"/>
            <a:ext cx="3657600" cy="93726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67CAEF3-0680-3931-B181-E2F517331F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6112" y="5087163"/>
            <a:ext cx="3616600" cy="100141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86DD408-694A-474E-4B2E-0214D1A55C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303" y="5206585"/>
            <a:ext cx="3657601" cy="9210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6AB19C-CAF5-32AE-3829-6D68CF325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394"/>
            <a:ext cx="12192000" cy="5884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62C67E-E08B-E773-B54C-D5B875B81031}"/>
              </a:ext>
            </a:extLst>
          </p:cNvPr>
          <p:cNvSpPr txBox="1"/>
          <p:nvPr/>
        </p:nvSpPr>
        <p:spPr>
          <a:xfrm>
            <a:off x="250722" y="162232"/>
            <a:ext cx="820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50"/>
                </a:solidFill>
              </a:rPr>
              <a:t>RTL Schematic - </a:t>
            </a:r>
            <a:r>
              <a:rPr lang="en-IN" sz="3600" b="1" dirty="0" err="1">
                <a:solidFill>
                  <a:srgbClr val="00B050"/>
                </a:solidFill>
              </a:rPr>
              <a:t>Xilinix</a:t>
            </a:r>
            <a:r>
              <a:rPr lang="en-IN" sz="3600" b="1" dirty="0">
                <a:solidFill>
                  <a:srgbClr val="00B050"/>
                </a:solidFill>
              </a:rPr>
              <a:t> </a:t>
            </a:r>
            <a:r>
              <a:rPr lang="en-IN" sz="3600" b="1" dirty="0" err="1">
                <a:solidFill>
                  <a:srgbClr val="00B050"/>
                </a:solidFill>
              </a:rPr>
              <a:t>Vivado</a:t>
            </a:r>
            <a:endParaRPr lang="en-IN" sz="3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458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CODE SPOTLIGHT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alu.v — Combinational Logic Core</a:t>
            </a:r>
            <a:endParaRPr lang="en-US" sz="2800" dirty="0"/>
          </a:p>
        </p:txBody>
      </p:sp>
      <p:pic>
        <p:nvPicPr>
          <p:cNvPr id="10" name="Image 0" descr="/home/claude/build/assets/code_a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4324116" cy="4480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10287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97880" y="530352"/>
            <a:ext cx="5486400" cy="3702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❖"/>
            </a:pPr>
            <a:r>
              <a:rPr lang="en-US" sz="13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9-bit internal `temp` register — the extra MSB captures carry-out from ADD without any separate adder hardware.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❖"/>
            </a:pPr>
            <a:r>
              <a:rPr lang="en-US" sz="13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same combinational case-statement style as the earlier 8-bit ALU minor project, trimmed to the 4 ops this ISA needs.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❖"/>
            </a:pPr>
            <a:r>
              <a:rPr lang="en-US" sz="13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`zero` flag is derived combinationally for potential branch/comparison extensions.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❖"/>
            </a:pPr>
            <a:r>
              <a:rPr lang="en-US" sz="13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combinational (`always @(*)`) — fits entirely within the single-cycle datapath with no extra latency.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E70D26-01A7-4A94-16ED-DE95D5AB5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383" y="3672088"/>
            <a:ext cx="5820697" cy="27744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CODE SPOTLIGHT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control_unit.v — Instruction Decode</a:t>
            </a:r>
            <a:endParaRPr lang="en-US" sz="2800" dirty="0"/>
          </a:p>
        </p:txBody>
      </p:sp>
      <p:pic>
        <p:nvPicPr>
          <p:cNvPr id="10" name="Image 0" descr="/home/claude/build/assets/code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4480560" cy="43791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106557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99760" y="503657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❖"/>
            </a:pPr>
            <a:r>
              <a:rPr lang="en-US" sz="13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combinational decoder — one `case` on the 3-bit opcode drives all five control signals plus `alu_op`.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❖"/>
            </a:pPr>
            <a:r>
              <a:rPr lang="en-US" sz="13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defaults at the top of the always-block mean any unused opcode (5–7) quietly decodes as a harmless NOP.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❖"/>
            </a:pPr>
            <a:r>
              <a:rPr lang="en-US" sz="13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asserts `mem_read`, `alu_src` (base+offset addressing) and `mem_to_reg` together — three signals, one decode.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❖"/>
            </a:pPr>
            <a:r>
              <a:rPr lang="en-US" sz="13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is the only instruction that needs `mem_write` instead of `reg_write`.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E8FF33-E6F3-0D0E-1D02-E89759F94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271" y="3697899"/>
            <a:ext cx="5022809" cy="30192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PROGRAM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Program Loaded into Instruction ROM</a:t>
            </a:r>
            <a:endParaRPr lang="en-US" sz="2800" dirty="0"/>
          </a:p>
        </p:txBody>
      </p:sp>
      <p:pic>
        <p:nvPicPr>
          <p:cNvPr id="10" name="Image 0" descr="/home/claude/build/assets/code_im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4402427" cy="4663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72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walk-through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7220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R1, 0x10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1540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← Mem[16] = 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72200" y="2633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R2, 0x11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915400" y="2633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← Mem[17] = 10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72200" y="31638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R3, R1, R2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915400" y="31638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 ← 5 + 10 = 15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72200" y="36941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R3, 0x12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915400" y="36941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Mem[18] ← 15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72200" y="4224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R4, R1, R2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915400" y="4224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 ← 5 &amp; 10 = 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72200" y="48920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5-instruction sequence is used to verify both the single-cycle and the pipelined designs, so their results can be compared directly.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— SINGLE-CYCLE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risc_top.v Wiring &amp; Simulation Pass</a:t>
            </a:r>
            <a:endParaRPr lang="en-US" sz="2800" dirty="0"/>
          </a:p>
        </p:txBody>
      </p:sp>
      <p:pic>
        <p:nvPicPr>
          <p:cNvPr id="10" name="Image 0" descr="/home/claude/build/assets/cod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652010" cy="3383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919472"/>
            <a:ext cx="46520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→ Memory → Write-Back wiring inside risc_top.v</a:t>
            </a:r>
            <a:endParaRPr lang="en-US" sz="1050" dirty="0"/>
          </a:p>
        </p:txBody>
      </p:sp>
      <p:pic>
        <p:nvPicPr>
          <p:cNvPr id="12" name="Image 1" descr="/home/claude/build/assets/sim_single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463040"/>
            <a:ext cx="6126480" cy="28503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08DF4E-1EAA-0367-9B14-166F5D931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306845"/>
            <a:ext cx="5095568" cy="2413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81254-3600-24EC-E917-646B7991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D8CB2B-4E49-8301-59F8-7D909A9A7ABB}"/>
              </a:ext>
            </a:extLst>
          </p:cNvPr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C45D09-9591-27FD-B047-DDEFB2D24EF4}"/>
              </a:ext>
            </a:extLst>
          </p:cNvPr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1AEDCD-D5E0-3FBA-4B59-F7F1AFE997A3}"/>
              </a:ext>
            </a:extLst>
          </p:cNvPr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AF67A2-12DF-D00E-D414-BB428E077C07}"/>
              </a:ext>
            </a:extLst>
          </p:cNvPr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E58EC7-98E1-1109-CA69-892CA61BBACA}"/>
              </a:ext>
            </a:extLst>
          </p:cNvPr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01DA173-C8AD-CCB8-4DCA-3D42243BD052}"/>
              </a:ext>
            </a:extLst>
          </p:cNvPr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957DE6-336C-F097-A314-9CA19A1DBA24}"/>
              </a:ext>
            </a:extLst>
          </p:cNvPr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 Truth Table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52FE3CF-20A6-9C15-3106-D779D23AAFAE}"/>
              </a:ext>
            </a:extLst>
          </p:cNvPr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D44BF09-7001-CC73-3AC6-181CBE6D7A1C}"/>
              </a:ext>
            </a:extLst>
          </p:cNvPr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AE00E-C2D4-F77B-AADB-B01310A9B8A6}"/>
              </a:ext>
            </a:extLst>
          </p:cNvPr>
          <p:cNvSpPr txBox="1"/>
          <p:nvPr/>
        </p:nvSpPr>
        <p:spPr>
          <a:xfrm>
            <a:off x="1010412" y="662709"/>
            <a:ext cx="1029997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reg_write</a:t>
            </a:r>
            <a:r>
              <a:rPr lang="en-IN" dirty="0"/>
              <a:t>→ 1 if the instruction writes a result back to the register file  </a:t>
            </a:r>
          </a:p>
          <a:p>
            <a:r>
              <a:rPr lang="en-IN" dirty="0" err="1"/>
              <a:t>mem_write</a:t>
            </a:r>
            <a:r>
              <a:rPr lang="en-IN" dirty="0"/>
              <a:t> → 1 for STORE (writes ALU-computed address/data into data memory)  </a:t>
            </a:r>
          </a:p>
          <a:p>
            <a:r>
              <a:rPr lang="en-IN" dirty="0" err="1"/>
              <a:t>mem_read</a:t>
            </a:r>
            <a:r>
              <a:rPr lang="en-IN" dirty="0"/>
              <a:t>→ 1 for LOAD (data memory is </a:t>
            </a:r>
            <a:r>
              <a:rPr lang="en-IN" dirty="0" err="1"/>
              <a:t>combinationally</a:t>
            </a:r>
            <a:r>
              <a:rPr lang="en-IN" dirty="0"/>
              <a:t> readable in this design)  </a:t>
            </a:r>
          </a:p>
          <a:p>
            <a:r>
              <a:rPr lang="en-IN" dirty="0" err="1"/>
              <a:t>alu_src</a:t>
            </a:r>
            <a:r>
              <a:rPr lang="en-IN" dirty="0"/>
              <a:t> →  0 = ALU operand B comes from register file (R-type)  </a:t>
            </a:r>
          </a:p>
          <a:p>
            <a:r>
              <a:rPr lang="en-IN" dirty="0"/>
              <a:t>	  1 = ALU operand B comes from immediate (LOAD/STORE address calculation)  </a:t>
            </a:r>
          </a:p>
          <a:p>
            <a:r>
              <a:rPr lang="en-IN" dirty="0" err="1"/>
              <a:t>mem_to_reg</a:t>
            </a:r>
            <a:r>
              <a:rPr lang="en-IN" dirty="0"/>
              <a:t>→ 0= write-back from ALU result  </a:t>
            </a:r>
          </a:p>
          <a:p>
            <a:r>
              <a:rPr lang="en-IN" dirty="0"/>
              <a:t>  	           1= write-back from memory (LOAD only)  </a:t>
            </a:r>
          </a:p>
          <a:p>
            <a:r>
              <a:rPr lang="en-IN" dirty="0" err="1"/>
              <a:t>alu_op</a:t>
            </a:r>
            <a:r>
              <a:rPr lang="en-IN" dirty="0"/>
              <a:t> → selects ALU operation:  - `00` = ADD ,`01` = SUB ,`10` = AND  ,`11` = OR ,LOAD/STORE always use ADD (base + immediate)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9D568A9-5DC4-BD00-397C-5AEFBF53A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16415"/>
              </p:ext>
            </p:extLst>
          </p:nvPr>
        </p:nvGraphicFramePr>
        <p:xfrm>
          <a:off x="1083564" y="713219"/>
          <a:ext cx="9490529" cy="2715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100">
                  <a:extLst>
                    <a:ext uri="{9D8B030D-6E8A-4147-A177-3AD203B41FA5}">
                      <a16:colId xmlns:a16="http://schemas.microsoft.com/office/drawing/2014/main" val="101548776"/>
                    </a:ext>
                  </a:extLst>
                </a:gridCol>
                <a:gridCol w="876825">
                  <a:extLst>
                    <a:ext uri="{9D8B030D-6E8A-4147-A177-3AD203B41FA5}">
                      <a16:colId xmlns:a16="http://schemas.microsoft.com/office/drawing/2014/main" val="510464813"/>
                    </a:ext>
                  </a:extLst>
                </a:gridCol>
                <a:gridCol w="1283372">
                  <a:extLst>
                    <a:ext uri="{9D8B030D-6E8A-4147-A177-3AD203B41FA5}">
                      <a16:colId xmlns:a16="http://schemas.microsoft.com/office/drawing/2014/main" val="2322134893"/>
                    </a:ext>
                  </a:extLst>
                </a:gridCol>
                <a:gridCol w="1469122">
                  <a:extLst>
                    <a:ext uri="{9D8B030D-6E8A-4147-A177-3AD203B41FA5}">
                      <a16:colId xmlns:a16="http://schemas.microsoft.com/office/drawing/2014/main" val="1481323403"/>
                    </a:ext>
                  </a:extLst>
                </a:gridCol>
                <a:gridCol w="1363763">
                  <a:extLst>
                    <a:ext uri="{9D8B030D-6E8A-4147-A177-3AD203B41FA5}">
                      <a16:colId xmlns:a16="http://schemas.microsoft.com/office/drawing/2014/main" val="78326276"/>
                    </a:ext>
                  </a:extLst>
                </a:gridCol>
                <a:gridCol w="969667">
                  <a:extLst>
                    <a:ext uri="{9D8B030D-6E8A-4147-A177-3AD203B41FA5}">
                      <a16:colId xmlns:a16="http://schemas.microsoft.com/office/drawing/2014/main" val="3256961785"/>
                    </a:ext>
                  </a:extLst>
                </a:gridCol>
                <a:gridCol w="1541929">
                  <a:extLst>
                    <a:ext uri="{9D8B030D-6E8A-4147-A177-3AD203B41FA5}">
                      <a16:colId xmlns:a16="http://schemas.microsoft.com/office/drawing/2014/main" val="2554839128"/>
                    </a:ext>
                  </a:extLst>
                </a:gridCol>
                <a:gridCol w="950751">
                  <a:extLst>
                    <a:ext uri="{9D8B030D-6E8A-4147-A177-3AD203B41FA5}">
                      <a16:colId xmlns:a16="http://schemas.microsoft.com/office/drawing/2014/main" val="363964231"/>
                    </a:ext>
                  </a:extLst>
                </a:gridCol>
              </a:tblGrid>
              <a:tr h="521221">
                <a:tc>
                  <a:txBody>
                    <a:bodyPr/>
                    <a:lstStyle/>
                    <a:p>
                      <a:r>
                        <a:rPr lang="en-IN" dirty="0"/>
                        <a:t>Opcode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Instr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reg_write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mem_write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mem_read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alu_src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mem_to_reg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alu_op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51455"/>
                  </a:ext>
                </a:extLst>
              </a:tr>
              <a:tr h="342692">
                <a:tc>
                  <a:txBody>
                    <a:bodyPr/>
                    <a:lstStyle/>
                    <a:p>
                      <a:r>
                        <a:rPr lang="en-IN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124751"/>
                  </a:ext>
                </a:extLst>
              </a:tr>
              <a:tr h="342692">
                <a:tc>
                  <a:txBody>
                    <a:bodyPr/>
                    <a:lstStyle/>
                    <a:p>
                      <a:r>
                        <a:rPr lang="en-IN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052999"/>
                  </a:ext>
                </a:extLst>
              </a:tr>
              <a:tr h="342692">
                <a:tc>
                  <a:txBody>
                    <a:bodyPr/>
                    <a:lstStyle/>
                    <a:p>
                      <a:r>
                        <a:rPr lang="en-IN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016345"/>
                  </a:ext>
                </a:extLst>
              </a:tr>
              <a:tr h="342692">
                <a:tc>
                  <a:txBody>
                    <a:bodyPr/>
                    <a:lstStyle/>
                    <a:p>
                      <a:r>
                        <a:rPr lang="en-IN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904058"/>
                  </a:ext>
                </a:extLst>
              </a:tr>
              <a:tr h="342692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99136"/>
                  </a:ext>
                </a:extLst>
              </a:tr>
              <a:tr h="342692"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217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619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— SINGLE-CYCLE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Waveform (Icarus Verilog)</a:t>
            </a:r>
            <a:endParaRPr lang="en-US" sz="2800" dirty="0"/>
          </a:p>
        </p:txBody>
      </p:sp>
      <p:pic>
        <p:nvPicPr>
          <p:cNvPr id="10" name="Image 0" descr="/home/claude/build/assets/wave_si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503" y="1417320"/>
            <a:ext cx="903869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5715000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13234A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57150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PC advances 0→8 across five instructions; each LOAD / ADD / AND drives reg_write with the correct write-back value, and STORE asserts mem_write for exactly one cycle.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Single-Cycle to a 2-Stage Pipeline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datapath into Stage 1 (Fetch + Decode) and Stage 2 (Execute + Memory + Write-Back) lets a second instruction start before the first finishes — but creates a data hazard.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5120640" cy="1554480"/>
          </a:xfrm>
          <a:prstGeom prst="roundRect">
            <a:avLst>
              <a:gd name="adj" fmla="val 3529"/>
            </a:avLst>
          </a:prstGeom>
          <a:solidFill>
            <a:srgbClr val="0F1E40"/>
          </a:solidFill>
          <a:ln w="12700">
            <a:solidFill>
              <a:srgbClr val="F5A3C7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258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Hazard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5877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R3,R1,R2 (Stage 1: reading R1,R2)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R3,0x12 (Stage 1, one cycle later)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1363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needs R3 — but ADD's result is still finishing in Stage 2 of the SAME cycle. The register file hasn't been written yet.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89320" y="214884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258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Forwarding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58775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this ISA has no branches, instead of stalling, the write-back value is bypassed directly into Stage 1's register reads the moment it's available — same cycle, no bubble.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risc_top_pipelined.v — forwarding mux logic</a:t>
            </a:r>
            <a:endParaRPr lang="en-US" sz="1200" dirty="0"/>
          </a:p>
        </p:txBody>
      </p:sp>
      <p:pic>
        <p:nvPicPr>
          <p:cNvPr id="19" name="Image 0" descr="/home/claude/build/assets/code_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328" y="4206240"/>
            <a:ext cx="7223040" cy="21945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— PIPELINED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Forwarding Resolves Both Hazards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72084" y="6131052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13234A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6676" y="613105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now lands one cycle after each instruction enters the pipeline (wb_waddr/wb_wdata trail pc by one step) — yet R3 = 15 and Mem[0x12] = 15 still come out correct, proving the forwarding paths caught both the ADD→STORE and the LOAD→ADD hazards.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90F66F-29D3-F5DD-89DE-3B0F8F4E6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272"/>
            <a:ext cx="12192000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solidFill>
            <a:srgbClr val="0B1530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in Vivado — A Key Lesson</a:t>
            </a:r>
            <a:endParaRPr lang="en-US" sz="3200" dirty="0"/>
          </a:p>
        </p:txBody>
      </p:sp>
      <p:pic>
        <p:nvPicPr>
          <p:cNvPr id="10" name="Image 0" descr="/home/claude/build/assets/utilization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675120" cy="22231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69533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risc_top_pipelined_utilization_synth.rpt  •  Target: xcau7p-fcva289-2-e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6675120" cy="2240280"/>
          </a:xfrm>
          <a:prstGeom prst="roundRect">
            <a:avLst>
              <a:gd name="adj" fmla="val 2449"/>
            </a:avLst>
          </a:prstGeom>
          <a:solidFill>
            <a:srgbClr val="0F1E40"/>
          </a:solidFill>
          <a:ln w="12700">
            <a:solidFill>
              <a:srgbClr val="F5A3C7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4297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report 0 LUTs?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47091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risc_top / risc_top_pipelined expose only clk and rst — there are no output ports carrying results off-chip. With nothing observable at the boundary, Vivado's synthesis optimizer treats the entire datapath as logic with no effect on any output and trims it away entirely.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56235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BB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observable output ports (e.g. expose a register/ALU result, or instantiate inside a wrapper that drives LEDs/registers), then re-run synthesis to see the true LUT/FF/CARRY8 count.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89520" y="4160520"/>
            <a:ext cx="3931920" cy="2240280"/>
          </a:xfrm>
          <a:prstGeom prst="roundRect">
            <a:avLst>
              <a:gd name="adj" fmla="val 2449"/>
            </a:avLst>
          </a:prstGeom>
          <a:solidFill>
            <a:srgbClr val="13234A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818120" y="4315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18120" y="4681728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correctness in simulation does not guarantee a meaningful synthesis result — testbench-only designs need real I/O boundaries before utilization numbers mean anything.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</a:t>
            </a:r>
            <a:r>
              <a:rPr lang="en-US" sz="12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Challenges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4DF593B3-E038-CC83-2EC0-A28FFD769B81}"/>
              </a:ext>
            </a:extLst>
          </p:cNvPr>
          <p:cNvSpPr/>
          <p:nvPr/>
        </p:nvSpPr>
        <p:spPr>
          <a:xfrm>
            <a:off x="320040" y="1984248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76D04084-CF8D-E1BB-1321-045975A647F4}"/>
              </a:ext>
            </a:extLst>
          </p:cNvPr>
          <p:cNvSpPr/>
          <p:nvPr/>
        </p:nvSpPr>
        <p:spPr>
          <a:xfrm>
            <a:off x="6172200" y="19659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F65569CD-678E-3763-ABE8-F79E76911F09}"/>
              </a:ext>
            </a:extLst>
          </p:cNvPr>
          <p:cNvSpPr/>
          <p:nvPr/>
        </p:nvSpPr>
        <p:spPr>
          <a:xfrm>
            <a:off x="356911" y="44805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38C43BBC-49F3-6916-5353-B1E7A8872722}"/>
              </a:ext>
            </a:extLst>
          </p:cNvPr>
          <p:cNvSpPr/>
          <p:nvPr/>
        </p:nvSpPr>
        <p:spPr>
          <a:xfrm>
            <a:off x="6172200" y="44805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20E819A0-BB2E-CD4C-DC6E-DC6D8FB4DF75}"/>
              </a:ext>
            </a:extLst>
          </p:cNvPr>
          <p:cNvSpPr/>
          <p:nvPr/>
        </p:nvSpPr>
        <p:spPr>
          <a:xfrm>
            <a:off x="502920" y="276148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six independently-correct modules together surfaces bugs that unit tests never see — bus-width mismatches and signal-name typos in particular.</a:t>
            </a:r>
            <a:endParaRPr lang="en-US" sz="125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17014F7-5088-38FB-861A-C6DB58D9E015}"/>
              </a:ext>
            </a:extLst>
          </p:cNvPr>
          <p:cNvSpPr/>
          <p:nvPr/>
        </p:nvSpPr>
        <p:spPr>
          <a:xfrm>
            <a:off x="6309360" y="276148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this ISA has no branches or multi-cycle ops, forwarding alone was enough — a stall/bubble mechanism would only be needed for a longer pipeline.</a:t>
            </a:r>
            <a:endParaRPr lang="en-US" sz="1250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A4EB0005-93A1-61C7-47DC-3B4BF479A446}"/>
              </a:ext>
            </a:extLst>
          </p:cNvPr>
          <p:cNvSpPr/>
          <p:nvPr/>
        </p:nvSpPr>
        <p:spPr>
          <a:xfrm>
            <a:off x="6310835" y="5309419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self-checking testbench passing in Icarus Verilog says nothing about what survives synthesis optimization — the 0-LUT report was the clearest proof of that.</a:t>
            </a:r>
            <a:endParaRPr lang="en-US" sz="12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5CFA8F32-2353-3783-8B58-D82B3098FBA9}"/>
              </a:ext>
            </a:extLst>
          </p:cNvPr>
          <p:cNvSpPr/>
          <p:nvPr/>
        </p:nvSpPr>
        <p:spPr>
          <a:xfrm>
            <a:off x="517078" y="5309419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isn't just "split the logic in half" — every shared resource (the register file) becomes a place where timing assumptions can silently break.</a:t>
            </a:r>
            <a:endParaRPr lang="en-US" sz="125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6BD7F5AF-8C8B-A74E-53B2-496D59A844CD}"/>
              </a:ext>
            </a:extLst>
          </p:cNvPr>
          <p:cNvSpPr/>
          <p:nvPr/>
        </p:nvSpPr>
        <p:spPr>
          <a:xfrm>
            <a:off x="50292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integration</a:t>
            </a:r>
            <a:endParaRPr lang="en-US" sz="15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5771D085-C06B-47FD-C108-4EC0194A13A2}"/>
              </a:ext>
            </a:extLst>
          </p:cNvPr>
          <p:cNvSpPr/>
          <p:nvPr/>
        </p:nvSpPr>
        <p:spPr>
          <a:xfrm>
            <a:off x="63093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vs Stalling</a:t>
            </a:r>
            <a:endParaRPr lang="en-US" sz="15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85D2832-C639-7197-7E7D-4394DBAF7806}"/>
              </a:ext>
            </a:extLst>
          </p:cNvPr>
          <p:cNvSpPr/>
          <p:nvPr/>
        </p:nvSpPr>
        <p:spPr>
          <a:xfrm>
            <a:off x="502920" y="471211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Awareness</a:t>
            </a:r>
            <a:endParaRPr lang="en-US" sz="15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C196710F-4750-9E82-1380-0F26ABA9ACE4}"/>
              </a:ext>
            </a:extLst>
          </p:cNvPr>
          <p:cNvSpPr/>
          <p:nvPr/>
        </p:nvSpPr>
        <p:spPr>
          <a:xfrm>
            <a:off x="6309360" y="4782017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≠ synthesis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787943C5-A150-6F19-62E9-A379584AC73F}"/>
              </a:ext>
            </a:extLst>
          </p:cNvPr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C96528CF-39CB-09EA-3D0E-26A0B6E6B150}"/>
              </a:ext>
            </a:extLst>
          </p:cNvPr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D590267-598D-3629-8FE4-3E1516DECC70}"/>
              </a:ext>
            </a:extLst>
          </p:cNvPr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B03105E-DADA-8ED7-91AA-EBA3E2977EFC}"/>
              </a:ext>
            </a:extLst>
          </p:cNvPr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8120E24-5F07-9F24-67B0-28A7CC52AFE7}"/>
              </a:ext>
            </a:extLst>
          </p:cNvPr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E33D2B2-A306-8E5B-62B7-9346EDA66643}"/>
              </a:ext>
            </a:extLst>
          </p:cNvPr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1CF81EA-A646-F5AB-396B-D468E5B00D5E}"/>
              </a:ext>
            </a:extLst>
          </p:cNvPr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1FE67E1-6814-73B5-8A95-0D2329CBAF5C}"/>
              </a:ext>
            </a:extLst>
          </p:cNvPr>
          <p:cNvSpPr/>
          <p:nvPr/>
        </p:nvSpPr>
        <p:spPr>
          <a:xfrm>
            <a:off x="1046988" y="3291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050"/>
                </a:solidFill>
              </a:rPr>
              <a:t>Mentor Deliverable Checklist </a:t>
            </a:r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E88A712A-7D1D-0F64-9DCA-8D0D8F57FD43}"/>
              </a:ext>
            </a:extLst>
          </p:cNvPr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14FEB1DE-CA2E-2A2D-42A5-CD12D54FA7DA}"/>
              </a:ext>
            </a:extLst>
          </p:cNvPr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88A06-6F3E-3F53-3354-B22CF1FC7475}"/>
              </a:ext>
            </a:extLst>
          </p:cNvPr>
          <p:cNvSpPr txBox="1"/>
          <p:nvPr/>
        </p:nvSpPr>
        <p:spPr>
          <a:xfrm>
            <a:off x="6527394" y="5431421"/>
            <a:ext cx="5314333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GitHub repository with code, testbench, and README</a:t>
            </a:r>
          </a:p>
          <a:p>
            <a:r>
              <a:rPr lang="en-IN" dirty="0">
                <a:solidFill>
                  <a:srgbClr val="00B050"/>
                </a:solidFill>
              </a:rPr>
              <a:t>https://github.com/vaibhavshromani/8_bit_RISC_V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E8BE04-B5E7-BFDC-0C52-C8DB5C07C466}"/>
              </a:ext>
            </a:extLst>
          </p:cNvPr>
          <p:cNvSpPr txBox="1"/>
          <p:nvPr/>
        </p:nvSpPr>
        <p:spPr>
          <a:xfrm>
            <a:off x="1133170" y="2277560"/>
            <a:ext cx="4526553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Block diagram: full </a:t>
            </a:r>
            <a:r>
              <a:rPr lang="en-IN" dirty="0" err="1"/>
              <a:t>datapath</a:t>
            </a:r>
            <a:r>
              <a:rPr lang="en-IN" dirty="0"/>
              <a:t> with all modules and signal connections </a:t>
            </a:r>
            <a:r>
              <a:rPr lang="en-IN" dirty="0" err="1"/>
              <a:t>labeled</a:t>
            </a:r>
            <a:r>
              <a:rPr lang="en-IN" dirty="0"/>
              <a:t>. </a:t>
            </a:r>
            <a:r>
              <a:rPr lang="en-IN" dirty="0">
                <a:solidFill>
                  <a:srgbClr val="00B050"/>
                </a:solidFill>
              </a:rPr>
              <a:t>Slide 6, 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281986-425C-4267-126C-4E399B6CBDA1}"/>
              </a:ext>
            </a:extLst>
          </p:cNvPr>
          <p:cNvSpPr txBox="1"/>
          <p:nvPr/>
        </p:nvSpPr>
        <p:spPr>
          <a:xfrm>
            <a:off x="6499125" y="4574399"/>
            <a:ext cx="472439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Pipeline enhancement (2-stage: Fetch + Execute) — bonus improvement. </a:t>
            </a:r>
            <a:r>
              <a:rPr lang="en-IN" dirty="0">
                <a:solidFill>
                  <a:srgbClr val="00B050"/>
                </a:solidFill>
              </a:rPr>
              <a:t>Slides 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A393A4-602B-DD2A-80AD-01ECDF3A8A5E}"/>
              </a:ext>
            </a:extLst>
          </p:cNvPr>
          <p:cNvSpPr txBox="1"/>
          <p:nvPr/>
        </p:nvSpPr>
        <p:spPr>
          <a:xfrm>
            <a:off x="6499124" y="3785242"/>
            <a:ext cx="455823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Optimization report: LUT count, timing analysis .(power &amp; implementation) </a:t>
            </a:r>
            <a:r>
              <a:rPr lang="en-IN" dirty="0">
                <a:solidFill>
                  <a:srgbClr val="00B050"/>
                </a:solidFill>
              </a:rPr>
              <a:t>Slides  12,17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CC446F-EC17-1EDC-6957-5D5E5F34FA6E}"/>
              </a:ext>
            </a:extLst>
          </p:cNvPr>
          <p:cNvSpPr txBox="1"/>
          <p:nvPr/>
        </p:nvSpPr>
        <p:spPr>
          <a:xfrm>
            <a:off x="6499125" y="3043629"/>
            <a:ext cx="455823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RTL schematic generated from </a:t>
            </a:r>
            <a:r>
              <a:rPr lang="en-IN" dirty="0" err="1"/>
              <a:t>Vivado</a:t>
            </a:r>
            <a:r>
              <a:rPr lang="en-IN" dirty="0"/>
              <a:t> or Quartus. </a:t>
            </a:r>
            <a:r>
              <a:rPr lang="en-IN" dirty="0">
                <a:solidFill>
                  <a:srgbClr val="00B050"/>
                </a:solidFill>
              </a:rPr>
              <a:t>Slide 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2BDDD6-E24B-752C-0C04-7561EFB093EE}"/>
              </a:ext>
            </a:extLst>
          </p:cNvPr>
          <p:cNvSpPr txBox="1"/>
          <p:nvPr/>
        </p:nvSpPr>
        <p:spPr>
          <a:xfrm>
            <a:off x="6499125" y="2277560"/>
            <a:ext cx="455823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Final report: design decisions, challenges faced, results, and future scope. </a:t>
            </a:r>
            <a:r>
              <a:rPr lang="en-IN" dirty="0">
                <a:solidFill>
                  <a:srgbClr val="00B050"/>
                </a:solidFill>
              </a:rPr>
              <a:t>Slides 3–18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C6521F-0549-EF4E-4F0D-C572E7C6D217}"/>
              </a:ext>
            </a:extLst>
          </p:cNvPr>
          <p:cNvSpPr txBox="1"/>
          <p:nvPr/>
        </p:nvSpPr>
        <p:spPr>
          <a:xfrm>
            <a:off x="1116208" y="5431423"/>
            <a:ext cx="4543515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Control signal truth table: one row per instruction. </a:t>
            </a:r>
            <a:r>
              <a:rPr lang="en-IN" dirty="0">
                <a:solidFill>
                  <a:srgbClr val="00B050"/>
                </a:solidFill>
              </a:rPr>
              <a:t>Slide 13</a:t>
            </a:r>
            <a:r>
              <a:rPr lang="en-IN" dirty="0"/>
              <a:t> (ISA table)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E3BD3D-AFFF-6947-C62D-CAEE3C2FBCA9}"/>
              </a:ext>
            </a:extLst>
          </p:cNvPr>
          <p:cNvSpPr txBox="1"/>
          <p:nvPr/>
        </p:nvSpPr>
        <p:spPr>
          <a:xfrm>
            <a:off x="1133170" y="4573777"/>
            <a:ext cx="4544464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Simulation waveforms: PC progression, register updates, memory access. </a:t>
            </a:r>
            <a:r>
              <a:rPr lang="en-IN" dirty="0">
                <a:solidFill>
                  <a:srgbClr val="00B050"/>
                </a:solidFill>
              </a:rPr>
              <a:t>Slide8-11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827FD9-323A-9A4E-FFA0-96B5A043A800}"/>
              </a:ext>
            </a:extLst>
          </p:cNvPr>
          <p:cNvSpPr txBox="1"/>
          <p:nvPr/>
        </p:nvSpPr>
        <p:spPr>
          <a:xfrm>
            <a:off x="1153819" y="3815464"/>
            <a:ext cx="4505904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Testbench: instruction program covering ADD, SUB, AND, OR, LOAD, STORE. </a:t>
            </a:r>
            <a:r>
              <a:rPr lang="en-IN" dirty="0">
                <a:solidFill>
                  <a:srgbClr val="00B050"/>
                </a:solidFill>
              </a:rPr>
              <a:t>Slides 9–12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BC87A1-9FB4-A4CE-6163-92651EB7FF80}"/>
              </a:ext>
            </a:extLst>
          </p:cNvPr>
          <p:cNvSpPr txBox="1"/>
          <p:nvPr/>
        </p:nvSpPr>
        <p:spPr>
          <a:xfrm>
            <a:off x="1133170" y="3032722"/>
            <a:ext cx="4544464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Verilog source: all component modules + top-level integration file (</a:t>
            </a:r>
            <a:r>
              <a:rPr lang="en-IN" dirty="0" err="1"/>
              <a:t>risc_top.v</a:t>
            </a:r>
            <a:r>
              <a:rPr lang="en-IN" dirty="0"/>
              <a:t>). </a:t>
            </a:r>
            <a:r>
              <a:rPr lang="en-IN" dirty="0">
                <a:solidFill>
                  <a:srgbClr val="00B050"/>
                </a:solidFill>
              </a:rPr>
              <a:t>Slides 6–11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FCFAC1-663C-6E29-E8A5-0A78333111F3}"/>
              </a:ext>
            </a:extLst>
          </p:cNvPr>
          <p:cNvSpPr txBox="1"/>
          <p:nvPr/>
        </p:nvSpPr>
        <p:spPr>
          <a:xfrm>
            <a:off x="1142506" y="1444428"/>
            <a:ext cx="452655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ISA document: instruction formats, opcode table, register file specification. </a:t>
            </a:r>
            <a:r>
              <a:rPr lang="en-IN" dirty="0">
                <a:solidFill>
                  <a:srgbClr val="00B050"/>
                </a:solidFill>
              </a:rPr>
              <a:t>Slide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F369C2-2D91-6110-463B-6DB594DC9FCF}"/>
              </a:ext>
            </a:extLst>
          </p:cNvPr>
          <p:cNvSpPr txBox="1"/>
          <p:nvPr/>
        </p:nvSpPr>
        <p:spPr>
          <a:xfrm>
            <a:off x="6522944" y="1435900"/>
            <a:ext cx="459362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Execution cycle count per instruction (for performance analysis). </a:t>
            </a:r>
            <a:r>
              <a:rPr lang="en-IN" dirty="0">
                <a:solidFill>
                  <a:srgbClr val="00B050"/>
                </a:solidFill>
              </a:rPr>
              <a:t>Slide 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8B2C83-D2D0-7BBD-C71B-236119E96C4F}"/>
              </a:ext>
            </a:extLst>
          </p:cNvPr>
          <p:cNvSpPr txBox="1"/>
          <p:nvPr/>
        </p:nvSpPr>
        <p:spPr>
          <a:xfrm>
            <a:off x="502921" y="1432215"/>
            <a:ext cx="650898" cy="69650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C2194C-27AA-6884-A2EF-C941F0E696E9}"/>
              </a:ext>
            </a:extLst>
          </p:cNvPr>
          <p:cNvSpPr txBox="1"/>
          <p:nvPr/>
        </p:nvSpPr>
        <p:spPr>
          <a:xfrm>
            <a:off x="494072" y="2261847"/>
            <a:ext cx="639098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AB5CC1-6248-6367-E590-8634EB450EE0}"/>
              </a:ext>
            </a:extLst>
          </p:cNvPr>
          <p:cNvSpPr txBox="1"/>
          <p:nvPr/>
        </p:nvSpPr>
        <p:spPr>
          <a:xfrm>
            <a:off x="494071" y="3032722"/>
            <a:ext cx="639099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139D46-F213-1D4F-5F49-56477C087AD1}"/>
              </a:ext>
            </a:extLst>
          </p:cNvPr>
          <p:cNvSpPr txBox="1"/>
          <p:nvPr/>
        </p:nvSpPr>
        <p:spPr>
          <a:xfrm>
            <a:off x="531311" y="3803248"/>
            <a:ext cx="639099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0E772C-3F13-B871-CCEB-046087B6E275}"/>
              </a:ext>
            </a:extLst>
          </p:cNvPr>
          <p:cNvSpPr txBox="1"/>
          <p:nvPr/>
        </p:nvSpPr>
        <p:spPr>
          <a:xfrm>
            <a:off x="524060" y="5419207"/>
            <a:ext cx="579957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1B320E-43A7-98C9-AD8F-FBD884157F07}"/>
              </a:ext>
            </a:extLst>
          </p:cNvPr>
          <p:cNvSpPr txBox="1"/>
          <p:nvPr/>
        </p:nvSpPr>
        <p:spPr>
          <a:xfrm>
            <a:off x="541266" y="4573777"/>
            <a:ext cx="579957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D49020-02FF-6504-DF2B-D037F10F2243}"/>
              </a:ext>
            </a:extLst>
          </p:cNvPr>
          <p:cNvSpPr txBox="1"/>
          <p:nvPr/>
        </p:nvSpPr>
        <p:spPr>
          <a:xfrm>
            <a:off x="5919166" y="3790068"/>
            <a:ext cx="579957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BB42D2-E9E7-5F93-463B-C96D10975E5D}"/>
              </a:ext>
            </a:extLst>
          </p:cNvPr>
          <p:cNvSpPr txBox="1"/>
          <p:nvPr/>
        </p:nvSpPr>
        <p:spPr>
          <a:xfrm>
            <a:off x="5919167" y="3041547"/>
            <a:ext cx="579957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9D553F-2F78-5768-7014-C4F562FAA952}"/>
              </a:ext>
            </a:extLst>
          </p:cNvPr>
          <p:cNvSpPr txBox="1"/>
          <p:nvPr/>
        </p:nvSpPr>
        <p:spPr>
          <a:xfrm>
            <a:off x="5919168" y="2252706"/>
            <a:ext cx="579957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83C79A-CBA0-5A4B-8721-8B66FC9FC0D4}"/>
              </a:ext>
            </a:extLst>
          </p:cNvPr>
          <p:cNvSpPr txBox="1"/>
          <p:nvPr/>
        </p:nvSpPr>
        <p:spPr>
          <a:xfrm>
            <a:off x="5942987" y="1428703"/>
            <a:ext cx="579957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F3BC08-2A9D-2C5C-065B-0379B2391D57}"/>
              </a:ext>
            </a:extLst>
          </p:cNvPr>
          <p:cNvSpPr txBox="1"/>
          <p:nvPr/>
        </p:nvSpPr>
        <p:spPr>
          <a:xfrm>
            <a:off x="5919165" y="4573776"/>
            <a:ext cx="579957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308D37-ACF1-8ECB-CF0B-511A3C5072AB}"/>
              </a:ext>
            </a:extLst>
          </p:cNvPr>
          <p:cNvSpPr txBox="1"/>
          <p:nvPr/>
        </p:nvSpPr>
        <p:spPr>
          <a:xfrm>
            <a:off x="5947437" y="5419207"/>
            <a:ext cx="579957" cy="670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dirty="0"/>
              <a:t>  ✓ </a:t>
            </a:r>
          </a:p>
        </p:txBody>
      </p:sp>
    </p:spTree>
    <p:extLst>
      <p:ext uri="{BB962C8B-B14F-4D97-AF65-F5344CB8AC3E}">
        <p14:creationId xmlns:p14="http://schemas.microsoft.com/office/powerpoint/2010/main" val="905395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6364" y="507492"/>
            <a:ext cx="210312" cy="210312"/>
          </a:xfrm>
          <a:prstGeom prst="roundRect">
            <a:avLst>
              <a:gd name="adj" fmla="val 8696"/>
            </a:avLst>
          </a:prstGeom>
          <a:solidFill>
            <a:srgbClr val="0B153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" y="56692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" y="658368"/>
            <a:ext cx="731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728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E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❖"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working 8-bit processor from scratch around a custom 16-bit ISA — 6 instructions, 2 instruction formats.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❖"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both a single-cycle and a 2-stage pipelined implementation with self-checking Verilog testbenches in Icarus Verilog.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❖"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data-forwarding correctly resolves RAW hazards introduced by pipelining, with identical final state in both versions.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❖"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the design through Vivado synthesis and learned to interpret (and explain) a utilization report</a:t>
            </a: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❖"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branch / jump instructions, which would require real hazard detection (stalls), not just forwarding.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❖"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pipeline to 5 stages (IF/ID/EX/MEM/WB) for a closer match to classic RISC architectures.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❖"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proper top-level I/O so Vivado synthesis reports meaningful LUT / FF / timing numbers.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❖"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 FPGA board for a live hardware demo of program execution.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—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25880" y="45720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45720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23444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234440"/>
            <a:ext cx="457200" cy="457200"/>
          </a:xfrm>
          <a:prstGeom prst="ellipse">
            <a:avLst/>
          </a:prstGeom>
          <a:solidFill>
            <a:srgbClr val="0F1E40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DCD1CB7B-4706-507B-F721-FC8DD189F254}"/>
              </a:ext>
            </a:extLst>
          </p:cNvPr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2305A"/>
          </a:solidFill>
          <a:ln/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82409191-139A-2CB8-F571-C7C137E5AD4C}"/>
              </a:ext>
            </a:extLst>
          </p:cNvPr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0F2848"/>
          </a:solidFill>
          <a:ln/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EC7F600-B8EC-9904-45FA-FDFA0C3A40CA}"/>
              </a:ext>
            </a:extLst>
          </p:cNvPr>
          <p:cNvSpPr/>
          <p:nvPr/>
        </p:nvSpPr>
        <p:spPr>
          <a:xfrm>
            <a:off x="144324" y="1663317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u="sng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93B9512-5839-E9B1-430F-2DE9C634EF76}"/>
              </a:ext>
            </a:extLst>
          </p:cNvPr>
          <p:cNvSpPr/>
          <p:nvPr/>
        </p:nvSpPr>
        <p:spPr>
          <a:xfrm>
            <a:off x="3297910" y="2302825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Vaibhav Shromani</a:t>
            </a:r>
            <a:endParaRPr lang="en-US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5FE1158F-5587-27AE-FF39-0C8BF9EB632E}"/>
              </a:ext>
            </a:extLst>
          </p:cNvPr>
          <p:cNvSpPr/>
          <p:nvPr/>
        </p:nvSpPr>
        <p:spPr>
          <a:xfrm>
            <a:off x="3755603" y="3171067"/>
            <a:ext cx="4680488" cy="445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Communication Engineering</a:t>
            </a:r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B435A8C-F4DD-5A88-8D55-F0817EC807A2}"/>
              </a:ext>
            </a:extLst>
          </p:cNvPr>
          <p:cNvSpPr/>
          <p:nvPr/>
        </p:nvSpPr>
        <p:spPr>
          <a:xfrm>
            <a:off x="3177153" y="3737485"/>
            <a:ext cx="5923452" cy="42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92D050"/>
                </a:solidFill>
              </a:rPr>
              <a:t>  Maulana Azad National Institute Of Technology, Bhopal </a:t>
            </a:r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D4E182B1-228F-72C3-6BDA-BEE12B4A3DB5}"/>
              </a:ext>
            </a:extLst>
          </p:cNvPr>
          <p:cNvSpPr/>
          <p:nvPr/>
        </p:nvSpPr>
        <p:spPr>
          <a:xfrm>
            <a:off x="4977315" y="408636"/>
            <a:ext cx="2540341" cy="116128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9975BB-C822-44D6-02F3-6BCB251D9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688" y="513443"/>
            <a:ext cx="2554968" cy="858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50B2E5-927D-440D-05AA-A37E5647C6F9}"/>
              </a:ext>
            </a:extLst>
          </p:cNvPr>
          <p:cNvSpPr txBox="1"/>
          <p:nvPr/>
        </p:nvSpPr>
        <p:spPr>
          <a:xfrm>
            <a:off x="3297910" y="5541127"/>
            <a:ext cx="5622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TechnGlobal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Industrial Training Program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May-June 2026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688CC3-8FAE-E752-AFDD-BAF64E31D130}"/>
              </a:ext>
            </a:extLst>
          </p:cNvPr>
          <p:cNvSpPr txBox="1"/>
          <p:nvPr/>
        </p:nvSpPr>
        <p:spPr>
          <a:xfrm>
            <a:off x="2331720" y="5077902"/>
            <a:ext cx="7725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VLSI Domain – Major Project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D3DEDE-CD4A-6219-8B6C-DF453EBF3632}"/>
              </a:ext>
            </a:extLst>
          </p:cNvPr>
          <p:cNvSpPr txBox="1"/>
          <p:nvPr/>
        </p:nvSpPr>
        <p:spPr>
          <a:xfrm>
            <a:off x="2548180" y="6309360"/>
            <a:ext cx="7725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TECHNGLOBAL PRIVATE LIMITED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info@technglobal.in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www.technglobal.in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2380</Words>
  <Application>Microsoft Office PowerPoint</Application>
  <PresentationFormat>Widescreen</PresentationFormat>
  <Paragraphs>384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8-bit RISC-V Inspired Processor — Internship Project</dc:title>
  <dc:subject>PptxGenJS Presentation</dc:subject>
  <dc:creator>Vaibhav Shromani</dc:creator>
  <cp:lastModifiedBy>mohinishromani2000@gmail.com</cp:lastModifiedBy>
  <cp:revision>4</cp:revision>
  <dcterms:created xsi:type="dcterms:W3CDTF">2026-06-27T07:56:36Z</dcterms:created>
  <dcterms:modified xsi:type="dcterms:W3CDTF">2026-06-27T11:10:27Z</dcterms:modified>
</cp:coreProperties>
</file>